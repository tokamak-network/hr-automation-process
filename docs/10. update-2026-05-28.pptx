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Tokamak Network HR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A72E5"/>
                </a:solidFill>
              </a:defRPr>
            </a:pPr>
            <a:r>
              <a:t>Minor Payroll Fixes from Running May Service Fee — 2026.05.28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Bulk Operations  |  Expense Recalculation  |  USD Totals  |  Inline Editing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Last Week Recap (May 20)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What Was Delivered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Candidate Pipeline — full lifecycle with evaluation compensation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Invoice Module — AI-powered PDF parsing (AR/AP)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Document Repository — 6 years of Singapore filings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Cloud Migration — Supabase + Railway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This Week: Fixes from Real Usage</a:t>
            </a:r>
          </a:p>
          <a:p>
            <a:pPr>
              <a:spcBef>
                <a:spcPts val="1400"/>
              </a:spcBef>
              <a:defRPr sz="1600" b="0">
                <a:solidFill>
                  <a:srgbClr val="CCCCCC"/>
                </a:solidFill>
              </a:defRPr>
            </a:pPr>
            <a:r>
              <a:t>Processed May Service Fee for all 6 members</a:t>
            </a:r>
            <a:br/>
            <a:r>
              <a:t>end-to-end for the first time — fixed the</a:t>
            </a:r>
            <a:br/>
            <a:r>
              <a:t>friction points discovered along the way</a:t>
            </a:r>
          </a:p>
          <a:p>
            <a:pPr>
              <a:spcBef>
                <a:spcPts val="2000"/>
              </a:spcBef>
              <a:defRPr sz="1800" b="1">
                <a:solidFill>
                  <a:srgbClr val="F59E0B"/>
                </a:solidFill>
              </a:defRPr>
            </a:pPr>
            <a:r>
              <a:t>4 minor but practical fixes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Update 1 — Payroll Bulk Selection &amp; Delete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New Features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Checkbox on every payroll row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Header checkbox for "Select All / Deselect All"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Action bar: shows count + bulk delete button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Confirmation dialog before bulk deletion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Selection clears on month/year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8288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99999"/>
                </a:solidFill>
              </a:defRPr>
            </a:pPr>
            <a:r>
              <a:t>Before</a:t>
            </a:r>
          </a:p>
          <a:p>
            <a:pPr>
              <a:spcBef>
                <a:spcPts val="800"/>
              </a:spcBef>
              <a:defRPr sz="1500" b="0">
                <a:solidFill>
                  <a:srgbClr val="999999"/>
                </a:solidFill>
              </a:defRPr>
            </a:pPr>
            <a:r>
              <a:t>Delete one record at a time</a:t>
            </a:r>
            <a:br/>
            <a:r>
              <a:t>6 team members = 6 clicks + 6 confirmations</a:t>
            </a:r>
          </a:p>
          <a:p>
            <a:pPr>
              <a:spcBef>
                <a:spcPts val="600"/>
              </a:spcBef>
              <a:defRPr sz="1000" b="0">
                <a:solidFill>
                  <a:srgbClr val="999999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10B981"/>
                </a:solidFill>
              </a:defRPr>
            </a:pPr>
            <a:r>
              <a:t>After</a:t>
            </a:r>
          </a:p>
          <a:p>
            <a:pPr>
              <a:spcBef>
                <a:spcPts val="800"/>
              </a:spcBef>
              <a:defRPr sz="1500" b="0">
                <a:solidFill>
                  <a:srgbClr val="CCCCCC"/>
                </a:solidFill>
              </a:defRPr>
            </a:pPr>
            <a:r>
              <a:t>Select all → one click → done</a:t>
            </a:r>
            <a:br/>
            <a:r>
              <a:t>Also sets up future bulk operations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Update 2 — Expense-Inclusive Recalculation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Problem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Net pay was calculated on Service Fee only</a:t>
            </a:r>
          </a:p>
          <a:p>
            <a:pPr>
              <a:spcBef>
                <a:spcPts val="800"/>
              </a:spcBef>
              <a:defRPr sz="1600" b="0">
                <a:solidFill>
                  <a:srgbClr val="CCCCCC"/>
                </a:solidFill>
              </a:defRPr>
            </a:pPr>
            <a:r>
              <a:t>Expenses appeared in 'Total' column but</a:t>
            </a:r>
            <a:br/>
            <a:r>
              <a:t>were NOT reflected in the payout amount</a:t>
            </a:r>
          </a:p>
          <a:p>
            <a:pPr>
              <a:spcBef>
                <a:spcPts val="600"/>
              </a:spcBef>
              <a:defRPr sz="800" b="0">
                <a:solidFill>
                  <a:srgbClr val="999999"/>
                </a:solidFill>
              </a:defRPr>
            </a:pPr>
          </a:p>
          <a:p>
            <a:pPr>
              <a:spcBef>
                <a:spcPts val="1400"/>
              </a:spcBef>
              <a:defRPr sz="1800" b="1">
                <a:solidFill>
                  <a:srgbClr val="FFFFFF"/>
                </a:solidFill>
              </a:defRPr>
            </a:pPr>
            <a:r>
              <a:t>Example: Jaden</a:t>
            </a:r>
          </a:p>
          <a:p>
            <a:pPr>
              <a:spcBef>
                <a:spcPts val="600"/>
              </a:spcBef>
              <a:defRPr sz="1500" b="0">
                <a:solidFill>
                  <a:srgbClr val="CCCCCC"/>
                </a:solidFill>
              </a:defRPr>
            </a:pPr>
            <a:r>
              <a:t>  Service Fee: 1,950 USDT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Expense: 710 USDT</a:t>
            </a:r>
          </a:p>
          <a:p>
            <a:pPr>
              <a:spcBef>
                <a:spcPts val="400"/>
              </a:spcBef>
              <a:defRPr sz="1500" b="0">
                <a:solidFill>
                  <a:srgbClr val="999999"/>
                </a:solidFill>
              </a:defRPr>
            </a:pPr>
            <a:r>
              <a:t>  Old net pay: based on 1,950 only</a:t>
            </a:r>
          </a:p>
          <a:p>
            <a:pPr>
              <a:spcBef>
                <a:spcPts val="400"/>
              </a:spcBef>
              <a:defRPr sz="1500" b="0">
                <a:solidFill>
                  <a:srgbClr val="10B981"/>
                </a:solidFill>
              </a:defRPr>
            </a:pPr>
            <a:r>
              <a:t>  New net pay: based on 2,660 (fee + expense)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Solution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"Recalculate" button added to payroll toolbar</a:t>
            </a:r>
          </a:p>
          <a:p>
            <a:pPr>
              <a:spcBef>
                <a:spcPts val="600"/>
              </a:spcBef>
              <a:defRPr sz="800" b="0">
                <a:solidFill>
                  <a:srgbClr val="999999"/>
                </a:solidFill>
              </a:defRPr>
            </a:pPr>
          </a:p>
          <a:p>
            <a:pPr>
              <a:spcBef>
                <a:spcPts val="1000"/>
              </a:spcBef>
              <a:defRPr sz="1600" b="1">
                <a:solidFill>
                  <a:srgbClr val="FFFFFF"/>
                </a:solidFill>
              </a:defRPr>
            </a:pPr>
            <a:r>
              <a:t>How it works:</a:t>
            </a:r>
          </a:p>
          <a:p>
            <a:pPr>
              <a:spcBef>
                <a:spcPts val="800"/>
              </a:spcBef>
              <a:defRPr sz="1500" b="0">
                <a:solidFill>
                  <a:srgbClr val="CCCCCC"/>
                </a:solidFill>
              </a:defRPr>
            </a:pPr>
            <a:r>
              <a:t>  1. Pulls latest expense data per member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2. Total = Service Fee + Expenses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3. Tax = calculated on Service Fee only</a:t>
            </a:r>
          </a:p>
          <a:p>
            <a:pPr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 (expenses are non-taxable reimbursements)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4. Net Pay = Total KRW - Tax</a:t>
            </a:r>
          </a:p>
          <a:p>
            <a:pPr>
              <a:spcBef>
                <a:spcPts val="600"/>
              </a:spcBef>
              <a:defRPr sz="800" b="0">
                <a:solidFill>
                  <a:srgbClr val="999999"/>
                </a:solidFill>
              </a:defRPr>
            </a:pPr>
          </a:p>
          <a:p>
            <a:pPr>
              <a:spcBef>
                <a:spcPts val="1000"/>
              </a:spcBef>
              <a:defRPr sz="1500" b="0">
                <a:solidFill>
                  <a:srgbClr val="F59E0B"/>
                </a:solidFill>
              </a:defRPr>
            </a:pPr>
            <a:r>
              <a:t>This matters because net pay goes directly</a:t>
            </a:r>
            <a:br/>
            <a:r>
              <a:t>into payslip PDFs and actual transfers.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Update 3 — USD Display in Summary Totals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Change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Tax total and net pay total in footer row</a:t>
            </a:r>
            <a:br/>
            <a:r>
              <a:t>now show USD conversion underneath</a:t>
            </a:r>
          </a:p>
          <a:p>
            <a:pPr>
              <a:spcBef>
                <a:spcPts val="600"/>
              </a:spcBef>
              <a:defRPr sz="800" b="0">
                <a:solidFill>
                  <a:srgbClr val="999999"/>
                </a:solidFill>
              </a:defRPr>
            </a:pPr>
          </a:p>
          <a:p>
            <a:pPr>
              <a:spcBef>
                <a:spcPts val="1000"/>
              </a:spcBef>
              <a:defRPr sz="1600" b="1">
                <a:solidFill>
                  <a:srgbClr val="FFFFFF"/>
                </a:solidFill>
              </a:defRPr>
            </a:pPr>
            <a:r>
              <a:t>Applied to:</a:t>
            </a:r>
          </a:p>
          <a:p>
            <a:pPr>
              <a:spcBef>
                <a:spcPts val="800"/>
              </a:spcBef>
              <a:defRPr sz="1500" b="0">
                <a:solidFill>
                  <a:srgbClr val="CCCCCC"/>
                </a:solidFill>
              </a:defRPr>
            </a:pPr>
            <a:r>
              <a:t>  -  Payroll Management page (monthly view)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-  Payroll Calculation page (preview result)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8288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Why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We think in USDT but report in KRW.</a:t>
            </a:r>
          </a:p>
          <a:p>
            <a:pPr>
              <a:spcBef>
                <a:spcPts val="800"/>
              </a:spcBef>
              <a:defRPr sz="1600" b="0">
                <a:solidFill>
                  <a:srgbClr val="CCCCCC"/>
                </a:solidFill>
              </a:defRPr>
            </a:pPr>
            <a:r>
              <a:t>Having both visible at a glance</a:t>
            </a:r>
            <a:br/>
            <a:r>
              <a:t>eliminates mental conversion.</a:t>
            </a:r>
          </a:p>
          <a:p>
            <a:pPr>
              <a:spcBef>
                <a:spcPts val="600"/>
              </a:spcBef>
              <a:defRPr sz="1000" b="0">
                <a:solidFill>
                  <a:srgbClr val="999999"/>
                </a:solidFill>
              </a:defRPr>
            </a:pP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</a:defRPr>
            </a:pPr>
            <a:r>
              <a:t>Example (May 2026, 6 members):</a:t>
            </a:r>
          </a:p>
          <a:p>
            <a:pPr>
              <a:spcBef>
                <a:spcPts val="800"/>
              </a:spcBef>
              <a:defRPr sz="1500" b="0">
                <a:solidFill>
                  <a:srgbClr val="F59E0B"/>
                </a:solidFill>
              </a:defRPr>
            </a:pPr>
            <a:r>
              <a:t>  Tax:     ₩15,702,508  /  $10,449</a:t>
            </a:r>
          </a:p>
          <a:p>
            <a:pPr>
              <a:spcBef>
                <a:spcPts val="400"/>
              </a:spcBef>
              <a:defRPr sz="1500" b="0">
                <a:solidFill>
                  <a:srgbClr val="10B981"/>
                </a:solidFill>
              </a:defRPr>
            </a:pPr>
            <a:r>
              <a:t>  Net Pay: ₩58,613,958  /  $39,003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Update 4 — Candidate Inline Review Editing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Improvement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Reviewer and Comment columns are now</a:t>
            </a:r>
            <a:br/>
            <a:r>
              <a:t>editable directly in the table</a:t>
            </a:r>
          </a:p>
          <a:p>
            <a:pPr>
              <a:spcBef>
                <a:spcPts val="600"/>
              </a:spcBef>
              <a:defRPr sz="800" b="0">
                <a:solidFill>
                  <a:srgbClr val="999999"/>
                </a:solidFill>
              </a:defRPr>
            </a:pPr>
          </a:p>
          <a:p>
            <a:pPr>
              <a:spcBef>
                <a:spcPts val="1000"/>
              </a:spcBef>
              <a:defRPr sz="1600" b="1">
                <a:solidFill>
                  <a:srgbClr val="FFFFFF"/>
                </a:solidFill>
              </a:defRPr>
            </a:pPr>
            <a:r>
              <a:t>How it works:</a:t>
            </a:r>
          </a:p>
          <a:p>
            <a:pPr>
              <a:spcBef>
                <a:spcPts val="800"/>
              </a:spcBef>
              <a:defRPr sz="1500" b="0">
                <a:solidFill>
                  <a:srgbClr val="CCCCCC"/>
                </a:solidFill>
              </a:defRPr>
            </a:pPr>
            <a:r>
              <a:t>  -  Click reviewer name → inline input field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-  Click comment → inline textarea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-  Save / Cancel buttons appear inline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-  Empty fields show "+ Reviewer" placeholder</a:t>
            </a:r>
          </a:p>
          <a:p>
            <a:pPr>
              <a:spcBef>
                <a:spcPts val="400"/>
              </a:spcBef>
              <a:defRPr sz="1500" b="0">
                <a:solidFill>
                  <a:srgbClr val="CCCCCC"/>
                </a:solidFill>
              </a:defRPr>
            </a:pPr>
            <a:r>
              <a:t>  -  Long comments: click to expand/collapse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8288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99999"/>
                </a:solidFill>
              </a:defRPr>
            </a:pPr>
            <a:r>
              <a:t>Before</a:t>
            </a:r>
          </a:p>
          <a:p>
            <a:pPr>
              <a:spcBef>
                <a:spcPts val="800"/>
              </a:spcBef>
              <a:defRPr sz="1500" b="0">
                <a:solidFill>
                  <a:srgbClr val="999999"/>
                </a:solidFill>
              </a:defRPr>
            </a:pPr>
            <a:r>
              <a:t>Read-only display, no way to edit</a:t>
            </a:r>
            <a:br/>
            <a:r>
              <a:t>without a separate form</a:t>
            </a:r>
          </a:p>
          <a:p>
            <a:pPr>
              <a:spcBef>
                <a:spcPts val="600"/>
              </a:spcBef>
              <a:defRPr sz="1000" b="0">
                <a:solidFill>
                  <a:srgbClr val="999999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10B981"/>
                </a:solidFill>
              </a:defRPr>
            </a:pPr>
            <a:r>
              <a:t>After</a:t>
            </a:r>
          </a:p>
          <a:p>
            <a:pPr>
              <a:spcBef>
                <a:spcPts val="800"/>
              </a:spcBef>
              <a:defRPr sz="1500" b="0">
                <a:solidFill>
                  <a:srgbClr val="CCCCCC"/>
                </a:solidFill>
              </a:defRPr>
            </a:pPr>
            <a:r>
              <a:t>Click → edit → save, all in the same row</a:t>
            </a:r>
            <a:br/>
            <a:r>
              <a:t>No modal, no page reload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Platform Status — May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Modules</a:t>
            </a:r>
          </a:p>
          <a:p>
            <a:pPr>
              <a:spcBef>
                <a:spcPts val="1200"/>
              </a:spcBef>
              <a:defRPr sz="1600" b="1">
                <a:solidFill>
                  <a:srgbClr val="FFFFFF"/>
                </a:solidFill>
              </a:defRPr>
            </a:pPr>
            <a:r>
              <a:t>  Hiring</a:t>
            </a:r>
          </a:p>
          <a:p>
            <a:pPr>
              <a:spcBef>
                <a:spcPts val="200"/>
              </a:spcBef>
              <a:defRPr sz="1400" b="0">
                <a:solidFill>
                  <a:srgbClr val="10B981"/>
                </a:solidFill>
              </a:defRPr>
            </a:pPr>
            <a:r>
              <a:t>    AI evaluation, GitHub monitor, sourcing, team mgmt, inline review  [LIVE]</a:t>
            </a:r>
          </a:p>
          <a:p>
            <a:pPr>
              <a:spcBef>
                <a:spcPts val="1200"/>
              </a:spcBef>
              <a:defRPr sz="1600" b="1">
                <a:solidFill>
                  <a:srgbClr val="FFFFFF"/>
                </a:solidFill>
              </a:defRPr>
            </a:pPr>
            <a:r>
              <a:t>  HR Management</a:t>
            </a:r>
          </a:p>
          <a:p>
            <a:pPr>
              <a:spcBef>
                <a:spcPts val="200"/>
              </a:spcBef>
              <a:defRPr sz="1400" b="0">
                <a:solidFill>
                  <a:srgbClr val="10B981"/>
                </a:solidFill>
              </a:defRPr>
            </a:pPr>
            <a:r>
              <a:t>    payroll, expenses, recalculation, bulk ops, payslip PDF  [LIVE]</a:t>
            </a:r>
          </a:p>
          <a:p>
            <a:pPr>
              <a:spcBef>
                <a:spcPts val="1200"/>
              </a:spcBef>
              <a:defRPr sz="1600" b="1">
                <a:solidFill>
                  <a:srgbClr val="FFFFFF"/>
                </a:solidFill>
              </a:defRPr>
            </a:pPr>
            <a:r>
              <a:t>  Accounting</a:t>
            </a:r>
          </a:p>
          <a:p>
            <a:pPr>
              <a:spcBef>
                <a:spcPts val="200"/>
              </a:spcBef>
              <a:defRPr sz="1400" b="0">
                <a:solidFill>
                  <a:srgbClr val="10B981"/>
                </a:solidFill>
              </a:defRPr>
            </a:pPr>
            <a:r>
              <a:t>    transaction classifier, invoices, document repository  [LIVE]</a:t>
            </a:r>
          </a:p>
          <a:p>
            <a:pPr>
              <a:spcBef>
                <a:spcPts val="1200"/>
              </a:spcBef>
              <a:defRPr sz="1600" b="1">
                <a:solidFill>
                  <a:srgbClr val="FFFFFF"/>
                </a:solidFill>
              </a:defRPr>
            </a:pPr>
            <a:r>
              <a:t>  Deployment</a:t>
            </a:r>
          </a:p>
          <a:p>
            <a:pPr>
              <a:spcBef>
                <a:spcPts val="200"/>
              </a:spcBef>
              <a:defRPr sz="1400" b="0">
                <a:solidFill>
                  <a:srgbClr val="F59E0B"/>
                </a:solidFill>
              </a:defRPr>
            </a:pPr>
            <a:r>
              <a:t>    Supabase DB + Railway backend live, Vercel pending  [PARTIAL]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Numbers</a:t>
            </a:r>
          </a:p>
          <a:p>
            <a:pPr>
              <a:spcBef>
                <a:spcPts val="1400"/>
              </a:spcBef>
              <a:defRPr sz="1800" b="1">
                <a:solidFill>
                  <a:srgbClr val="FFFFFF"/>
                </a:solidFill>
              </a:defRPr>
            </a:pPr>
            <a:r>
              <a:t>53+ API endpoints</a:t>
            </a:r>
          </a:p>
          <a:p>
            <a:pPr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20 DB tables</a:t>
            </a:r>
          </a:p>
          <a:p>
            <a:pPr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97 classification rules</a:t>
            </a:r>
          </a:p>
          <a:p>
            <a:pPr>
              <a:spcBef>
                <a:spcPts val="1400"/>
              </a:spcBef>
              <a:defRPr sz="1600" b="0">
                <a:solidFill>
                  <a:srgbClr val="10B981"/>
                </a:solidFill>
              </a:defRPr>
            </a:pPr>
            <a:r>
              <a:t>+3 new endpoints this week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This Month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Upload 6 years of accounting documents (YA2020-YA2025)</a:t>
            </a:r>
          </a:p>
          <a:p>
            <a:pPr>
              <a:spcBef>
                <a:spcPts val="600"/>
              </a:spcBef>
              <a:defRPr sz="1600" b="0">
                <a:solidFill>
                  <a:srgbClr val="CCCCCC"/>
                </a:solidFill>
              </a:defRPr>
            </a:pPr>
            <a:r>
              <a:t>  -  Vercel frontend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8288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72E5"/>
                </a:solidFill>
              </a:defRPr>
            </a:pPr>
            <a:r>
              <a:t>Next Month</a:t>
            </a:r>
          </a:p>
          <a:p>
            <a:pPr>
              <a:spcBef>
                <a:spcPts val="1000"/>
              </a:spcBef>
              <a:defRPr sz="1600" b="0">
                <a:solidFill>
                  <a:srgbClr val="CCCCCC"/>
                </a:solidFill>
              </a:defRPr>
            </a:pPr>
            <a:r>
              <a:t>  -  Tax Calendar — ECI, Form C-S, AGM deadline alerts</a:t>
            </a:r>
          </a:p>
          <a:p>
            <a:pPr>
              <a:spcBef>
                <a:spcPts val="600"/>
              </a:spcBef>
              <a:defRPr sz="1600" b="0">
                <a:solidFill>
                  <a:srgbClr val="CCCCCC"/>
                </a:solidFill>
              </a:defRPr>
            </a:pPr>
            <a:r>
              <a:t>  -  P&amp;L / Balance Sheet auto-generation</a:t>
            </a:r>
          </a:p>
          <a:p>
            <a:pPr>
              <a:spcBef>
                <a:spcPts val="600"/>
              </a:spcBef>
              <a:defRPr sz="1600" b="0">
                <a:solidFill>
                  <a:srgbClr val="CCCCCC"/>
                </a:solidFill>
              </a:defRPr>
            </a:pPr>
            <a:r>
              <a:t>  -  Tax Computation template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A72E5"/>
                </a:solidFill>
              </a:defRPr>
            </a:pPr>
            <a:r>
              <a:t>Tokamak Network HR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