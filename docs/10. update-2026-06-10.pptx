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C1C1C"/>
                </a:solidFill>
              </a:defRPr>
            </a:pPr>
            <a:r>
              <a:t>Tokamak Network HR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</a:defRPr>
            </a:pPr>
            <a:r>
              <a:t>Payroll Fixes + Benchmark Idea — 2026.06.10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72E5"/>
                </a:solidFill>
              </a:defRPr>
            </a:pPr>
            <a:r>
              <a:t>May Service Fee fixes  |  Org Benchmark for Candidate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Last Week +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Last Week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  -  Candidate Pipeline — full lifecycle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  -  Invoice Module — AI PDF parsing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  -  Document Repository — 6 years of filings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This Week</a:t>
            </a:r>
          </a:p>
          <a:p>
            <a:pPr>
              <a:spcBef>
                <a:spcPts val="1400"/>
              </a:spcBef>
              <a:defRPr sz="1600" b="0">
                <a:solidFill>
                  <a:srgbClr val="666666"/>
                </a:solidFill>
              </a:defRPr>
            </a:pPr>
            <a:r>
              <a:t>Ran May Service Fee end-to-end</a:t>
            </a:r>
          </a:p>
          <a:p>
            <a:pPr>
              <a:spcBef>
                <a:spcPts val="400"/>
              </a:spcBef>
              <a:defRPr sz="1600" b="0">
                <a:solidFill>
                  <a:srgbClr val="666666"/>
                </a:solidFill>
              </a:defRPr>
            </a:pPr>
            <a:r>
              <a:t>for all 6 members — first real run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Fixed small issues found along the way</a:t>
            </a:r>
          </a:p>
          <a:p>
            <a:pPr>
              <a:spcBef>
                <a:spcPts val="1000"/>
              </a:spcBef>
              <a:defRPr sz="1600" b="1">
                <a:solidFill>
                  <a:srgbClr val="2A72E5"/>
                </a:solidFill>
              </a:defRPr>
            </a:pPr>
            <a:r>
              <a:t>+ one new idea for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Fix 1 — Bulk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99"/>
                </a:solidFill>
              </a:defRPr>
            </a:pPr>
            <a:r>
              <a:t>Before</a:t>
            </a:r>
          </a:p>
          <a:p>
            <a:pPr>
              <a:spcBef>
                <a:spcPts val="1000"/>
              </a:spcBef>
              <a:defRPr sz="1600" b="0">
                <a:solidFill>
                  <a:srgbClr val="999999"/>
                </a:solidFill>
              </a:defRPr>
            </a:pPr>
            <a:r>
              <a:t>Delete one by one</a:t>
            </a:r>
          </a:p>
          <a:p>
            <a:pPr>
              <a:spcBef>
                <a:spcPts val="600"/>
              </a:spcBef>
              <a:defRPr sz="1600" b="0">
                <a:solidFill>
                  <a:srgbClr val="999999"/>
                </a:solidFill>
              </a:defRPr>
            </a:pPr>
            <a:r>
              <a:t>6 members = 6 clicks + 6 confirmations</a:t>
            </a:r>
          </a:p>
          <a:p>
            <a:pPr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</a:p>
          <a:p>
            <a:pPr>
              <a:spcBef>
                <a:spcPts val="2000"/>
              </a:spcBef>
              <a:defRPr sz="2000" b="1">
                <a:solidFill>
                  <a:srgbClr val="0D9B6A"/>
                </a:solidFill>
              </a:defRPr>
            </a:pPr>
            <a:r>
              <a:t>After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Checkbox on each row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Select all or pick specific ones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Delete at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Fix 2 — Expense Recalculation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A06"/>
                </a:solidFill>
              </a:defRPr>
            </a:pPr>
            <a:r>
              <a:t>Problem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Net pay didn't include expenses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1C1C1C"/>
                </a:solidFill>
              </a:defRPr>
            </a:pPr>
            <a:r>
              <a:t>Example: Jaden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  Service Fee: 1,950 USDT</a:t>
            </a:r>
          </a:p>
          <a:p>
            <a:pPr>
              <a:spcBef>
                <a:spcPts val="400"/>
              </a:spcBef>
              <a:defRPr sz="1500" b="0">
                <a:solidFill>
                  <a:srgbClr val="666666"/>
                </a:solidFill>
              </a:defRPr>
            </a:pPr>
            <a:r>
              <a:t>  Expense: 710 USDT</a:t>
            </a:r>
          </a:p>
          <a:p>
            <a:pPr>
              <a:spcBef>
                <a:spcPts val="400"/>
              </a:spcBef>
              <a:defRPr sz="1500" b="0">
                <a:solidFill>
                  <a:srgbClr val="999999"/>
                </a:solidFill>
              </a:defRPr>
            </a:pPr>
            <a:r>
              <a:t>  Old: net pay based on 1,950 only</a:t>
            </a:r>
          </a:p>
          <a:p>
            <a:pPr>
              <a:spcBef>
                <a:spcPts val="400"/>
              </a:spcBef>
              <a:defRPr sz="1500" b="0">
                <a:solidFill>
                  <a:srgbClr val="0D9B6A"/>
                </a:solidFill>
              </a:defRPr>
            </a:pPr>
            <a:r>
              <a:t>  New: based on 2,660 (fee + expense)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B6A"/>
                </a:solidFill>
              </a:defRPr>
            </a:pPr>
            <a:r>
              <a:t>Solution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"Recalculate" button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500" b="0">
                <a:solidFill>
                  <a:srgbClr val="666666"/>
                </a:solidFill>
              </a:defRPr>
            </a:pPr>
            <a:r>
              <a:t>Total = Service Fee + Expense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Tax = Service Fee only (non-taxable)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</a:defRPr>
            </a:pPr>
            <a:r>
              <a:t>Net Pay = Total - Tax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400"/>
              </a:spcBef>
              <a:defRPr sz="1500" b="0">
                <a:solidFill>
                  <a:srgbClr val="D97A06"/>
                </a:solidFill>
              </a:defRPr>
            </a:pPr>
            <a:r>
              <a:t>Goes directly into payslip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Fix 3 &amp; 4 — USD Totals + Inline Editing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USD in Summary Row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We think in USDT, report in KRW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Now both visible at a glance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No more mental conversion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500" b="1">
                <a:solidFill>
                  <a:srgbClr val="1C1C1C"/>
                </a:solidFill>
              </a:defRPr>
            </a:pPr>
            <a:r>
              <a:t>Example (May, 6 members):</a:t>
            </a:r>
          </a:p>
          <a:p>
            <a:pPr>
              <a:spcBef>
                <a:spcPts val="600"/>
              </a:spcBef>
              <a:defRPr sz="1500" b="0">
                <a:solidFill>
                  <a:srgbClr val="D97A06"/>
                </a:solidFill>
              </a:defRPr>
            </a:pPr>
            <a:r>
              <a:t>  Tax: ₩15.7M / $10,449</a:t>
            </a:r>
          </a:p>
          <a:p>
            <a:pPr>
              <a:spcBef>
                <a:spcPts val="400"/>
              </a:spcBef>
              <a:defRPr sz="1500" b="0">
                <a:solidFill>
                  <a:srgbClr val="0D9B6A"/>
                </a:solidFill>
              </a:defRPr>
            </a:pPr>
            <a:r>
              <a:t>  Net: ₩58.6M / $39,003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Candidate Inline Edit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Reviewer / Comment — click to edit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No separate form, no page reload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400"/>
              </a:spcBef>
              <a:defRPr sz="1600" b="0">
                <a:solidFill>
                  <a:srgbClr val="666666"/>
                </a:solidFill>
              </a:defRPr>
            </a:pPr>
            <a:r>
              <a:t>Re-Analyze button added</a:t>
            </a:r>
          </a:p>
          <a:p>
            <a:pPr>
              <a:spcBef>
                <a:spcPts val="600"/>
              </a:spcBef>
              <a:defRPr sz="1600" b="0">
                <a:solidFill>
                  <a:srgbClr val="666666"/>
                </a:solidFill>
              </a:defRPr>
            </a:pPr>
            <a:r>
              <a:t>Can re-run AI evaluation anytime</a:t>
            </a:r>
          </a:p>
          <a:p>
            <a:pPr>
              <a:spcBef>
                <a:spcPts val="400"/>
              </a:spcBef>
              <a:defRPr sz="1400" b="0">
                <a:solidFill>
                  <a:srgbClr val="999999"/>
                </a:solidFill>
              </a:defRPr>
            </a:pPr>
            <a:r>
              <a:t>(needed for benchmark feature)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New Idea — Org Benchmark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What</a:t>
            </a:r>
          </a:p>
          <a:p>
            <a:pPr>
              <a:spcBef>
                <a:spcPts val="1000"/>
              </a:spcBef>
              <a:defRPr sz="1600" b="0">
                <a:solidFill>
                  <a:srgbClr val="666666"/>
                </a:solidFill>
              </a:defRPr>
            </a:pPr>
            <a:r>
              <a:t>Compare candidate's repo against</a:t>
            </a:r>
          </a:p>
          <a:p>
            <a:pPr>
              <a:spcBef>
                <a:spcPts val="400"/>
              </a:spcBef>
              <a:defRPr sz="1600" b="0">
                <a:solidFill>
                  <a:srgbClr val="666666"/>
                </a:solidFill>
              </a:defRPr>
            </a:pPr>
            <a:r>
              <a:t>Tokamak Network's own recent repos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1C1C1C"/>
                </a:solidFill>
              </a:defRPr>
            </a:pPr>
            <a:r>
              <a:t>How it works: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1. Clone recent active repos from our org</a:t>
            </a:r>
          </a:p>
          <a:p>
            <a:pPr>
              <a:spcBef>
                <a:spcPts val="400"/>
              </a:spcBef>
              <a:defRPr sz="1500" b="0">
                <a:solidFill>
                  <a:srgbClr val="666666"/>
                </a:solidFill>
              </a:defRPr>
            </a:pPr>
            <a:r>
              <a:t>  2. Measure quality metrics</a:t>
            </a:r>
          </a:p>
          <a:p>
            <a:pPr>
              <a:spcBef>
                <a:spcPts val="400"/>
              </a:spcBef>
              <a:defRPr sz="1500" b="0">
                <a:solidFill>
                  <a:srgbClr val="666666"/>
                </a:solidFill>
              </a:defRPr>
            </a:pPr>
            <a:r>
              <a:t>  3. Build a benchmark profile</a:t>
            </a:r>
          </a:p>
          <a:p>
            <a:pPr>
              <a:spcBef>
                <a:spcPts val="400"/>
              </a:spcBef>
              <a:defRPr sz="1500" b="0">
                <a:solidFill>
                  <a:srgbClr val="666666"/>
                </a:solidFill>
              </a:defRPr>
            </a:pPr>
            <a:r>
              <a:t>  4. AI compares candidate vs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Why</a:t>
            </a:r>
          </a:p>
          <a:p>
            <a:pPr>
              <a:spcBef>
                <a:spcPts val="1000"/>
              </a:spcBef>
              <a:defRPr sz="1600" b="0">
                <a:solidFill>
                  <a:srgbClr val="999999"/>
                </a:solidFill>
              </a:defRPr>
            </a:pPr>
            <a:r>
              <a:t>Before: AI scored in isolation</a:t>
            </a:r>
          </a:p>
          <a:p>
            <a:pPr>
              <a:spcBef>
                <a:spcPts val="600"/>
              </a:spcBef>
              <a:defRPr sz="1600" b="0">
                <a:solidFill>
                  <a:srgbClr val="0D9B6A"/>
                </a:solidFill>
              </a:defRPr>
            </a:pPr>
            <a:r>
              <a:t>Now: compared to our actual codebase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600" b="1">
                <a:solidFill>
                  <a:srgbClr val="1C1C1C"/>
                </a:solidFill>
              </a:defRPr>
            </a:pPr>
            <a:r>
              <a:t>Result: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"Above / On Par / Below"</a:t>
            </a:r>
          </a:p>
          <a:p>
            <a:pPr>
              <a:spcBef>
                <a:spcPts val="400"/>
              </a:spcBef>
              <a:defRPr sz="1500" b="0">
                <a:solidFill>
                  <a:srgbClr val="666666"/>
                </a:solidFill>
              </a:defRPr>
            </a:pPr>
            <a:r>
              <a:t>  for each quality category</a:t>
            </a:r>
          </a:p>
          <a:p>
            <a:pPr>
              <a:spcBef>
                <a:spcPts val="600"/>
              </a:spcBef>
              <a:defRPr sz="800" b="0">
                <a:solidFill>
                  <a:srgbClr val="666666"/>
                </a:solidFill>
              </a:defRPr>
            </a:pPr>
          </a:p>
          <a:p>
            <a:pPr>
              <a:spcBef>
                <a:spcPts val="1400"/>
              </a:spcBef>
              <a:defRPr sz="1500" b="0">
                <a:solidFill>
                  <a:srgbClr val="D97A06"/>
                </a:solidFill>
              </a:defRPr>
            </a:pPr>
            <a:r>
              <a:t>Still early — first version</a:t>
            </a:r>
          </a:p>
          <a:p>
            <a:pPr>
              <a:spcBef>
                <a:spcPts val="400"/>
              </a:spcBef>
              <a:defRPr sz="1500" b="0">
                <a:solidFill>
                  <a:srgbClr val="D97A06"/>
                </a:solidFill>
              </a:defRPr>
            </a:pPr>
            <a:r>
              <a:t>Exploring better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Benchmark — Quality Density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Not file count or commit count — those favor older repos. Focus on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Test Presence</a:t>
            </a:r>
          </a:p>
          <a:p>
            <a:pPr>
              <a:spcBef>
                <a:spcPts val="1000"/>
              </a:spcBef>
              <a:defRPr sz="1400" b="0">
                <a:solidFill>
                  <a:srgbClr val="666666"/>
                </a:solidFill>
              </a:defRPr>
            </a:pPr>
            <a:r>
              <a:t>Does the repo have tests?</a:t>
            </a:r>
          </a:p>
          <a:p>
            <a:pPr>
              <a:spcBef>
                <a:spcPts val="600"/>
              </a:spcBef>
              <a:defRPr sz="6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2A72E5"/>
                </a:solidFill>
              </a:defRPr>
            </a:pPr>
            <a:r>
              <a:t>50% of our repos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Documentation</a:t>
            </a:r>
          </a:p>
          <a:p>
            <a:pPr>
              <a:spcBef>
                <a:spcPts val="1000"/>
              </a:spcBef>
              <a:defRPr sz="1400" b="0">
                <a:solidFill>
                  <a:srgbClr val="666666"/>
                </a:solidFill>
              </a:defRPr>
            </a:pPr>
            <a:r>
              <a:t>README with sections,</a:t>
            </a:r>
            <a:br/>
            <a:r>
              <a:t>install guide, code examples</a:t>
            </a:r>
          </a:p>
          <a:p>
            <a:pPr>
              <a:spcBef>
                <a:spcPts val="600"/>
              </a:spcBef>
              <a:defRPr sz="6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2A72E5"/>
                </a:solidFill>
              </a:defRPr>
            </a:pPr>
            <a:r>
              <a:t>90% have structured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Code Organization</a:t>
            </a:r>
          </a:p>
          <a:p>
            <a:pPr>
              <a:spcBef>
                <a:spcPts val="1000"/>
              </a:spcBef>
              <a:defRPr sz="1400" b="0">
                <a:solidFill>
                  <a:srgbClr val="666666"/>
                </a:solidFill>
              </a:defRPr>
            </a:pPr>
            <a:r>
              <a:t>Config files, CI/CD,</a:t>
            </a:r>
            <a:br/>
            <a:r>
              <a:t>modular directories</a:t>
            </a:r>
          </a:p>
          <a:p>
            <a:pPr>
              <a:spcBef>
                <a:spcPts val="600"/>
              </a:spcBef>
              <a:defRPr sz="6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2A72E5"/>
                </a:solidFill>
              </a:defRPr>
            </a:pPr>
            <a:r>
              <a:t>Avg 3.1 config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1C1C"/>
                </a:solidFill>
              </a:defRPr>
            </a:pPr>
            <a:r>
              <a:t>Language Alignment</a:t>
            </a:r>
          </a:p>
          <a:p>
            <a:pPr>
              <a:spcBef>
                <a:spcPts val="1000"/>
              </a:spcBef>
              <a:defRPr sz="1400" b="0">
                <a:solidFill>
                  <a:srgbClr val="666666"/>
                </a:solidFill>
              </a:defRPr>
            </a:pPr>
            <a:r>
              <a:t>Overlap with our stack:</a:t>
            </a:r>
            <a:br/>
            <a:r>
              <a:t>TS, Solidity, Go</a:t>
            </a:r>
          </a:p>
          <a:p>
            <a:pPr>
              <a:spcBef>
                <a:spcPts val="600"/>
              </a:spcBef>
              <a:defRPr sz="600" b="0">
                <a:solidFill>
                  <a:srgbClr val="666666"/>
                </a:solidFill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2A72E5"/>
                </a:solidFill>
              </a:defRPr>
            </a:pPr>
            <a:r>
              <a:t>Direct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</a:defRPr>
            </a:pPr>
            <a:r>
              <a:t>These metrics don't depend on repo age — fair comparison for short-term submissions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1C1C"/>
                </a:solidFill>
              </a:defRPr>
            </a:pPr>
            <a:r>
              <a:t>Status +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Done This Week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Payroll: bulk delete, recalculate, USD totals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Candidates: inline edit, re-analyze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Benchmark: first version live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56+ API endpoints, 21 DB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1C1C"/>
                </a:solidFill>
              </a:defRPr>
            </a:pPr>
            <a:r>
              <a:t>Next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Benchmark: explore better metrics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Accounting docs upload (YA2020-2025)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Vercel frontend deployment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</a:defRPr>
            </a:pPr>
            <a:r>
              <a:t>  -  Tax calendar + P&amp;L auto-generation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C1C1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Tokamak Network HR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